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notesMaster" Target="notesMasters/notesMaster1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docs/MODULE7.md — read guides before running demos.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docs/MODULE7.md — read guides before running demos.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MODULE7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Requires iverilog on PATH (apt install iverilog).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module7/examples/migration/README.md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Hands-on: module7/examples/migration/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module7/examples/migration_1995_to_2001/README.md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Hands-on: module7/examples/migration_1995_to_2001/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module7/examples/case_versions/README.md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Hands-on: module7/examples/case_versions/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module7/examples/version_table/README.md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Hands-on: module7/examples/version_table/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module7/examples/version_selection/README.md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Hands-on: module7/examples/version_selection/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module7/examples/migration_checklist/README.md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Hands-on: module7/examples/migration_checklist/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module7/examples/incremental_migration/README.md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Hands-on: module7/examples/incremental_migration/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module7/examples/port_style_compare/README.md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Hands-on: module7/examples/port_style_compare/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module7/examples/no_defparam/README.md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Hands-on: module7/examples/no_defparam/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MODULE7 Common Pitfalls.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MODULE7 Common Pitfalls.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MODULE7 Common Pitfalls.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MODULE7 Common Pitfalls.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MODULE7 Common Pitfalls.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MODULE7 Learning Outcomes.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8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0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4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6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18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20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2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  <a:defRPr sz="4000" b="1">
                <a:solidFill>
                  <a:srgbClr val="1A1A2E"/>
                </a:solidFill>
                <a:latin typeface="Calibri"/>
              </a:defRPr>
            </a:pPr>
            <a:r>
              <a:t>Module 7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  <a:defRPr sz="2600" b="0">
                <a:solidFill>
                  <a:srgbClr val="333333"/>
                </a:solidFill>
                <a:latin typeface="Calibri"/>
              </a:defRPr>
            </a:pPr>
            <a:r>
              <a:t>Version Comparison and Migration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learn_verilog_systemverilog / Module 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Compare Verilog and SystemVerilog across IEEE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versions side-by-side, plan migration between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standar…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learn_verilog_systemverilog / Module 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Prerequisites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See module README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learn_verilog_systemverilog / Module 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Learning path</a:t>
            </a:r>
          </a:p>
        </p:txBody>
      </p:sp>
      <p:pic>
        <p:nvPicPr>
          <p:cNvPr id="3" name="Picture 2" descr="learning_pa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81280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1200" b="0">
                <a:solidFill>
                  <a:srgbClr val="333333"/>
                </a:solidFill>
                <a:latin typeface="Calibri"/>
              </a:defRPr>
            </a:pPr>
            <a:r>
              <a:t>Compare Verilog and SystemVerilog across IEEE versions side-by-side, plan migration between standards, and choose the right version for you…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learn_verilog_systemverilog / Module 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This module ties together Modules 1–6 by comparing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the same design across standards (1364-1995 thro…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learn_verilog_systemverilog / Module 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defRPr sz="3600" b="1">
                <a:solidFill>
                  <a:srgbClr val="1A1A2E"/>
                </a:solidFill>
                <a:latin typeface="Calibri"/>
              </a:defRPr>
            </a:pPr>
            <a:r>
              <a:t>How to learn this module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learn_verilog_systemverilog / Module 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Suggested learning path (1/2)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Skim this document — Goal, Overview, and Topics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Covered set the IEEE scope for Module 7.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Study design architecture — See how DUTs, examples,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and testbenches fit together under `module7/`.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Work through labs in order — Open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`module7/EXAMPLES.md` and run each `make clean &amp;&amp;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make run` from…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Run the full module script — `./scripts/module7.sh`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from the repo root to simulate all examples and…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Complete the exercises — Try each exercise in this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document before reading solutions or peeking at…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learn_verilog_systemverilog / Module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Suggested learning path (2/2)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Compare side-by-side — Open 1364 and 1800 versions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of the same design and note port style, types, a…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Review Common Pitfalls — Can you explain each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mistake and the fix?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Self-check — Use `module7/CHECKLIST.md` before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starting the next module.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learn_verilog_systemverilog / Module 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defRPr sz="3600" b="1">
                <a:solidFill>
                  <a:srgbClr val="1A1A2E"/>
                </a:solidFill>
                <a:latin typeface="Calibri"/>
              </a:defRPr>
            </a:pPr>
            <a:r>
              <a:t>Syllabus topics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learn_verilog_systemverilog / Module 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1. Side-by-Side Comparison: Same Design Across Versions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See docs/MODULE7.md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learn_verilog_systemverilog / Module 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defRPr sz="3600" b="1">
                <a:solidFill>
                  <a:srgbClr val="1A1A2E"/>
                </a:solidFill>
                <a:latin typeface="Calibri"/>
              </a:defRPr>
            </a:pPr>
            <a:r>
              <a:t>Hands-on examples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learn_verilog_systemverilog / Module 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Module 7 toolchain 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9144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2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$ command -v iverilog &gt;/dev/null &amp;&amp; echo "Toolchain ready: $(iverilog</a:t>
            </a:r>
          </a:p>
          <a:p>
            <a:pPr>
              <a:lnSpc>
                <a:spcPts val="2200"/>
              </a:lnSpc>
              <a:spcAft>
                <a:spcPts val="2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  -V 2&gt;&amp;1 | head -1)"</a:t>
            </a:r>
          </a:p>
        </p:txBody>
      </p:sp>
      <p:pic>
        <p:nvPicPr>
          <p:cNvPr id="4" name="Picture 3" descr="module7_ch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65960"/>
            <a:ext cx="7071358" cy="39776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learn_verilog_systemverilog / Module 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Example 7: Migration 1364→1800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Before/after: wire/reg, always @* vs logic,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always_comb, unique case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Order of steps, testing, regression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learn_verilog_systemverilog / Module 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Demo: Migration 1364→1800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9144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2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$ cd module7/examples/migration &amp;&amp; make clean &amp;&amp; make run</a:t>
            </a:r>
          </a:p>
        </p:txBody>
      </p:sp>
      <p:pic>
        <p:nvPicPr>
          <p:cNvPr id="4" name="Picture 3" descr="ex07_mig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65960"/>
            <a:ext cx="7071358" cy="39776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learn_verilog_systemverilog / Module 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Example 8: Migration 1995→2001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Before: non-ANSI, @(a or b or sel). After: ANSI,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always @*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ANSI ports, implicit sensitivity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learn_verilog_systemverilog / Module 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Demo: Migration 1995→2001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9144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2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$ cd module7/examples/migration_1995_to_2001 &amp;&amp; make clean &amp;&amp; make run</a:t>
            </a:r>
          </a:p>
        </p:txBody>
      </p:sp>
      <p:pic>
        <p:nvPicPr>
          <p:cNvPr id="4" name="Picture 3" descr="ex08_migration_1995_to_2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65960"/>
            <a:ext cx="7071358" cy="39776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learn_verilog_systemverilog / Module 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Example 9: Case Versions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Same 4:1 mux: 1364 case+default vs 1800 unique case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case semantics; unique case for tool checking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learn_verilog_systemverilog / Module 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Demo: Case Versions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9144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2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$ cd module7/examples/case_versions &amp;&amp; make clean &amp;&amp; make run</a:t>
            </a:r>
          </a:p>
        </p:txBody>
      </p:sp>
      <p:pic>
        <p:nvPicPr>
          <p:cNvPr id="4" name="Picture 3" descr="ex09_case_vers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65960"/>
            <a:ext cx="7071358" cy="39776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learn_verilog_systemverilog / Module 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Example 10: Version 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Single reference: construct vs standard (1995–2017)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When each feature was introduced; minimum revision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learn_verilog_systemverilog / Module 7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Demo: Version 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9144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2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$ cd module7/examples/version_table &amp;&amp; make clean &amp;&amp; make run</a:t>
            </a:r>
          </a:p>
        </p:txBody>
      </p:sp>
      <p:pic>
        <p:nvPicPr>
          <p:cNvPr id="4" name="Picture 3" descr="ex10_version_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65960"/>
            <a:ext cx="7071358" cy="39776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learn_verilog_systemverilog / Module 7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Example 11: Version Selection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Runnable reminder of version-selection checklist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(constraints, decision, document)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See MODULE7.md for full checklist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Same D flip-flop in 1995, 2001, 2005, 1800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(sequential block style)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always @(posedge clk) vs always_ff; wire/reg vs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logic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Same tiny FSM in 1364 vs 1800 (case vs unique case,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always_ff)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Sequential FSM; 1800 always_ff and unique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learn_verilog_systemverilog / Module 7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Demo: Version Selection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9144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2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$ cd module7/examples/version_selection &amp;&amp; make clean &amp;&amp; make run</a:t>
            </a:r>
          </a:p>
        </p:txBody>
      </p:sp>
      <p:pic>
        <p:nvPicPr>
          <p:cNvPr id="4" name="Picture 3" descr="ex11_version_sel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65960"/>
            <a:ext cx="7071358" cy="39776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learn_verilog_systemverilog / Module 7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Example 14: Migration Checklist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Runnable reminder of 1364→1800 migration steps (pre,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per-module, post)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See MODULE7.md for full migration checklist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learn_verilog_systemverilog / Module 7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Demo: Migration Checklist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9144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2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$ cd module7/examples/migration_checklist &amp;&amp; make clean &amp;&amp; make run</a:t>
            </a:r>
          </a:p>
        </p:txBody>
      </p:sp>
      <p:pic>
        <p:nvPicPr>
          <p:cNvPr id="4" name="Picture 3" descr="ex14_migration_checkl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65960"/>
            <a:ext cx="7071358" cy="39776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learn_verilog_systemverilog / Module 7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Example 15: Incremental Migration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Two steps: step1 1364 style, step2 1800 style; same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mux, compare outputs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Migrate one construct at a time; test after each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step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learn_verilog_systemverilog / Module 7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Demo: Incremental Migration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9144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2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$ cd module7/examples/incremental_migration &amp;&amp; make clean &amp;&amp; make run</a:t>
            </a:r>
          </a:p>
        </p:txBody>
      </p:sp>
      <p:pic>
        <p:nvPicPr>
          <p:cNvPr id="4" name="Picture 3" descr="ex15_incremental_mig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65960"/>
            <a:ext cx="7071358" cy="39776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learn_verilog_systemverilog / Module 7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Example 16: Port Style Compare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Same 2:1 mux: non-ANSI (1995) vs ANSI (2001) ports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only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Port declaration style; no other change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learn_verilog_systemverilog / Module 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Demo: Port Style Compare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9144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2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$ cd module7/examples/port_style_compare &amp;&amp; make clean &amp;&amp; make run</a:t>
            </a:r>
          </a:p>
        </p:txBody>
      </p:sp>
      <p:pic>
        <p:nvPicPr>
          <p:cNvPr id="4" name="Picture 3" descr="ex16_port_style_comp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65960"/>
            <a:ext cx="7071358" cy="39776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learn_verilog_systemverilog / Module 7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Example 17: No defparam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1364-2005: parameter override at instantiation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#(.WIDTH(n)); avoid defparam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defparam deprecated; use instantiation override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learn_verilog_systemverilog / Module 7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Demo: No defparam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9144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2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$ cd module7/examples/no_defparam &amp;&amp; make clean &amp;&amp; make run</a:t>
            </a:r>
          </a:p>
        </p:txBody>
      </p:sp>
      <p:pic>
        <p:nvPicPr>
          <p:cNvPr id="4" name="Picture 3" descr="ex17_no_defpa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65960"/>
            <a:ext cx="7071358" cy="39776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learn_verilog_systemverilog / Module 7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defRPr sz="3600" b="1">
                <a:solidFill>
                  <a:srgbClr val="1A1A2E"/>
                </a:solidFill>
                <a:latin typeface="Calibri"/>
              </a:defRPr>
            </a:pPr>
            <a:r>
              <a:t>Common 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learn_verilog_systemverilog / Module 7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Migrating Everything at Once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Mistake: Converting a large codebase from 1364 to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1800 in one big change.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Reality: Hard to debug; regressions are difficult to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isolate.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Correct: Migrate incrementally (one module or one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feature at a time); run regression after each ste…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Why: Reduces risk and keeps a clear baseline.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learn_verilog_systemverilog / Module 7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Ignoring Tool Support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Mistake: Choosing 1800-2017 and using constructs the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synthesis or simulator does not support.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Reality: Compile or elaboration errors; or tool-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specific behavior.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Correct: Check tool manuals for supported revision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and synthesizable subset; align RTL with that.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Why: Ensures the project builds and matches tool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expectations.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learn_verilog_systemverilog / Module 7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Breaking Interfaces During Migration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Mistake: Changing port list or interface of a block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while migrating its internals, so that other mo…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Reality: Large ripple of changes; integration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failures.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Correct: Keep external interface (ports or interface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modport) unchanged during internal migration;…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Why: Limits scope of change and preserves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compatibility with rest of design.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learn_verilog_systemverilog / Module 7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Mixing Revisions in One 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Mistake: Using 1995 ports in one module and 1800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logic in another in the same file without a clear…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Reality: Confusing for readers and tools; possible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tool-dependent behavior.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Correct: Use one project standard per file (or per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project); document the standard in the style gui…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Why: Consistency and predictable tool behavior.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learn_verilog_systemverilog / Module 7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Forgetting to Test After Migration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Mistake: Changing syntax (e.g. wire→logic, always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@*→always_comb) and not re-running simulation or…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Reality: Subtle bugs (e.g. latch, wrong sensitivity)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can appear.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Correct: Run full regression (simulation and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synthesis) after every migration step; compare with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ba…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Why: Catches functional or synthesis differences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early.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learn_verilog_systemverilog / Module 7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defRPr sz="3600" b="1">
                <a:solidFill>
                  <a:srgbClr val="1A1A2E"/>
                </a:solidFill>
                <a:latin typeface="Calibri"/>
              </a:defRPr>
            </a:pPr>
            <a:r>
              <a:t>Practice &amp; assessment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learn_verilog_systemverilog / Module 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What you should know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✓ Compare the same design across 1364-1995,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1364-2001, 1364-2005, and 1800 (design subset) and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list…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✓ Compare connectivity style: many ports (1364) vs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interface (1800)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✓ Plan and execute migration from 1364 to 1800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design subset (or between 1364 revisions) using the…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✓ Choose a project standard (revision and subset)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based on tool support and constraints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✓ Use the version-selection checklist for new or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existing projects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✓ Describe how to extend the course when a new IEEE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1800 revision is released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learn_verilog_systemverilog / Module 7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Exercises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Side-by-Side Mux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Side-by-Side Connectivity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Migration One Block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Version Selection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Version Table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learn_verilog_systemverilog / Module 7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Exercises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Migrating Everything at Once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Ignoring Tool Support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Breaking Interfaces During Migration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Mixing Revisions in One File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Forgetting to Test After Migration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learn_verilog_systemverilog / Module 7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Summary &amp;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Compare Verilog and SystemVerilog across IEEE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versions side-by-side, plan migration between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standar…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Complete module7/CHECKLIST.md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Review module7/EXAMPLES.md and run each lab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Next: Next module in course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learn_verilog_systemverilog / Module 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