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docs/MODULE1.md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docs/MODULE1.md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Non-ANSI port list; output y is reg because always drives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 drives inputs; wire observes output; initial applies all input combos.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module1/EXAMPLES.md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iverilog compiles to top; vvp runs the simulation executable.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module1/examples/modules_ports/README.md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module1/examples/modules_ports/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module1/examples/nets_variables/README.md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module1/examples/nets_variables/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module1/examples/continuous_assign/README.md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module1/examples/continuous_assign/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module1/examples/continuous_assign_gates/README.md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module1/examples/continuous_assign_gates/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module1/examples/adder/README.md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module1/examples/adder/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module1/examples/procedural/README.md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module1/examples/procedural/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module1/examples/sequential_dff/README.md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module1/examples/sequential_dff/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module1/examples/delays_timing/README.md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module1/examples/delays_timing/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module1/examples/testbenches/README.md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module1/examples/testbenches/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IEEE 1364-1995 (Verilog-95)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first standardized Verilog language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1364-1995) and its core syntax for RTL design…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the first standardized Verilog language (IEEE 1364-1995) and its core syntax for RTL design and simulation.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establishes the foundation for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Verilog/SystemVerilog version-centric course.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You'll…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this document — Goal, Overview, and Topics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Covered set the IEEE scope for Module 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design architecture — See how DUTs, examples,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testbenches fit together under `module1/`.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 through labs in order — Open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`module1/EXAMPLES.md` and run each `make clean &amp;&amp;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 run` from…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full module script — `./scripts/module1.sh`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the repo root to simulate all examples and…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the exercises — Try each exercise in this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 before reading solutions or peeking 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Common Pitfalls — Can you explain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mistake and the fix?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— Use `module1/CHECKLIST.md`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starting the next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Repository layout (module1/)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docs/MODULE1.md — syllabus,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pitfalls, and exercises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module1/examples/ — nine hands-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labs, each with Makefile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README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module1/dut/simple_gates/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 AND/OR/NOT gates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1995 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module1/tests/ — standalone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 (and_gate, mux2)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Repository layout (module1/)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scripts/module1.sh — runs every example and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the repo 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RTL hierarchy and signal flow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Leaf modules (and_gate, mux2,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dff) expose ports; top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wires them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 driven by reg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initial/always; outputs observed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 wire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Combinational logic uses assign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always @(a or b …)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blocking =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logic uses always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@(posedge clk) with nonblocking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&lt;=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RTL hierarchy and signal flow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rtl_architecture.png — testbench stimulus flows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into DUT, checks via $display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toolchain (Icarus Verilog)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-o top file.v …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compile Verilog-95 sources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VVP bytecode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vvp top — run simulation;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$display prints waveforms 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text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$finish — required to stop;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it the simulator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forever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 lab: cd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module1/examples/&lt;name&gt; &amp;&amp;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clean &amp;&amp; make run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example — and_gate (1995 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and_gate(a, b, y);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a;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b;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y;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a, b;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reg  y;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always @(a or b)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y = a &amp; b;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endmodule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Testbench — stimulus and $finish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reg  a, b;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y;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and_gate u_dut (.a(a), .b(b), .y(y));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initial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$display("a b y");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a = 0; b = 0; #10 $display("%b %b %b", a, b, y);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a = 0; b = 1; #10 $display("%b %b %b", a, b, y);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a = 1; b = 0; #10 $display("%b %b %b", a, b, y);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a = 1; b = 1; #10 $display("%b %b %b", a, b, y);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$finish;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module1/examples/&lt;example&gt;/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module1/examples/modules_ports/and_gate.v — 1995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 + always @(a or b)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module1/examples/continuous_assign/mux2.v — assign-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based combinational mux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module1/examples/sequential_dff/dff.v — clocked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 with async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module1/examples/testbenches/test_and_gate.v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minimal TB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module1/tests/test_mux2.v — directed test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delay-based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scripts/module1.sh — one-command regression for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Example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 run invokes iverilog then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vvp (see each example Makefile)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Full module sweep: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./scripts/module1.sh (checks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iverilog first)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artifact (top)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gitignored; make clean removes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structure (1364-1995)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test_and_gate.v — reg stimulus,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wire outputs, named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block applies vectors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# delays between changes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Exhaustive 2-input tests print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truth table; $finish ends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What “passing”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exits after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(no hang at time limit)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Printed a/b/y rows match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AND or mux truth 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module1/CHECKLIST.md confirms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concepts before Module 2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Build and run (Makefile)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Build and run modules_ports example (1364-1995)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Requires: iverilog (or compatible simulator)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SIM ?= iverilog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TOP ?= top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.PHONY: run clean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run: $(TOP)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vvp $(TOP)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$(TOP): and_gate.v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iverilog -o $(TOP) and_gate.v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clean: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rm -f $(TOP)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Protocol &amp; design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What 1364-1995 Includes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and hierarchy: Module declaration,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list,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Nets: `wire` (and `wand`, `wor`, `tri`; rarely 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RTL)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Variables: `reg` for procedural assignment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assignment: `assign` for combinational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What 1364-1995 Includes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Procedural blocks: `always`, `initial` with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sensitivity lists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Delays and timing: `#`, `@`, `wait`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and functions: Non-ANSI style (declarations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separate from port list)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tasks: `$display`, `$monitor`, `$finish`,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`$stop`, `$time`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What 1364-1995 Does Not Include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ANSI-style port declarations (added in 1364-2001)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**`always @*`** (added in 1364-2001)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generate (added in 1364-2001)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signed keyword, no multi-dimensional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(1364-2001)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What 1364-1995 Does Not Include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SystemVerilog: no `logic`, `always_comb`,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`always_ff`, interfaces,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Module Declaration (1995 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list: Only port names: `(a, b, y)`.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direction: Declared inside the module: `input`,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`output`.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type: Declared inside the module: `wire`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`reg` (default for `input` is `wire`; for `output`…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Module Instantiation (1995 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port connection: `.port_name(signal_name)`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recommended for readability.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Positional: Order must match port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wire (Net)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Represents a physical connection between components.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Driven by continuous assignment (`assign`) or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Cannot be assigned inside `always` or `initial` (use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`reg` for that).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reg (Variable)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Holds a value; can be assigned in `always`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`initial`.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Does not imply a flip-flop; flip-flops come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 @(posedge clk)` (or similar).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Used for outputs that are driven procedurally.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4-State Logic (1364-1995)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Both `wire` and `reg` are 4-state: `0`, `1`, `X`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(unknown), `Z` (high-impedance).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always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Repeated execution; sensitivity list defines when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1364-1995: Sensitivity list is mandatory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explicit — no `@*`.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blocking `=` for combinational, nonblocking `&lt;=`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sequential (flip-flops).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 (D flip-flop):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`module1/examples/sequential_dff/dff.v`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initial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Runs once at time zero. Used for testbenches: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`$display`, `$finish`.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flow (reference)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Stimulus, DUT response, and check points for this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1364-1995 Context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and hierarchy: Module declaration,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list,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Nets: `wire` (and `wand`, `wor`, `tri`; rarely 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RTL)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Variables: `reg` for procedural assignment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assignment: `assign` for combinational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Procedural blocks: `always`, `initial` with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sensitivity lists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Delays and timing: `#`, `@`, `wait`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1364-1995 Context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 and functions: Non-ANSI style (declarations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separate from port list)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tasks: `$display`, `$monitor`, `$finish`,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`$stop`, `$time`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ANSI-style port declarations (added in 1364-2001)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**`always @*`** (added in 1364-2001)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generate (added in 1364-2001)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signed keyword, no multi-dimensional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(1364-2001)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1364-1995 Context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SystemVerilog: no `logic`, `always_comb`,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`always_ff`, interfaces,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Modules, Ports, and Hierarchy (1364-1995)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list: Only port names: `(a, b, y)`.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direction: Declared inside the module: `input`,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`output`.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type: Declared inside the module: `wire`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`reg` (default for `input` is `wire`; for `output`…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port connection: `.port_name(signal_name)`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recommended for readability.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Positional: Order must match port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Nets and Variables: wire and reg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Represents a physical connection between components.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Driven by continuous assignment (`assign`) or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Cannot be assigned inside `always` or `initial` (use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`reg` for that).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Holds a value; can be assigned in `always`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`initial`.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Does not imply a flip-flop; flip-flops come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 @(posedge clk)` (or similar).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Used for outputs that are driven procedurally.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Nets and Variables: wire and reg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Both `wire` and `reg` are 4-state: `0`, `1`, `X`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(unknown), `Z` (high-impedance).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Continuous Assignment (assign)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Right-hand side: Any expression of `wire`/`reg`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operators.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Left-hand side: Must be a `wire` (or similar net).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Procedural Blocks: always and initial (1364-1995)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Repeated execution; sensitivity list defines when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1364-1995: Sensitivity list is mandatory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explicit — no `@*`.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blocking `=` for combinational, nonblocking `&lt;=`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sequential (flip-flops).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 (D flip-flop):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`module1/examples/sequential_dff/dff.v`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Runs once at time zero. Used for testbenches: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`$display`, `$finish`.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Delays and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`#n`: Delay by `n` time units (e.g. `#10`).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`@(event)`: Wait for event (e.g. `@(posedge clk)`).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`wait(condition)`: Wait until condition is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Tasks and Functions (1995 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Function: Returns a single value; no delays (zero-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Task: Can have delays and multiple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(output/inout args).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Simple Testbench (1364-1995)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`$display`: Print once.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`$monitor`: Print whenever a listed signal changes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(optional).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`$finish`: End simulation.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1995-style module declaration and port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and positional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Non-ANSI ports, separate direction/type declarations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1995-style module declaration and port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module1/examples/modules_ports &amp;&amp; make clean &amp;&amp; make run</a:t>
            </a:r>
          </a:p>
        </p:txBody>
      </p:sp>
      <p:pic>
        <p:nvPicPr>
          <p:cNvPr id="4" name="Picture 3" descr="ex01_modules_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2: `wire` vs `reg`, vectors, 4-state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wire vs reg, single driver per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`wire` vs `reg`, vectors, 4-state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module1/examples/nets_variables &amp;&amp; make clean &amp;&amp; make run</a:t>
            </a:r>
          </a:p>
        </p:txBody>
      </p:sp>
      <p:pic>
        <p:nvPicPr>
          <p:cNvPr id="4" name="Picture 3" descr="ex02_nets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3: `assign` for combinational logic (2:1 mux)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Left-hand side must be net; expression on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`assign` for combinational logic (2:1 mux)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module1/examples/continuous_assign &amp;&amp; make clean &amp;&amp; make run</a:t>
            </a:r>
          </a:p>
        </p:txBody>
      </p:sp>
      <p:pic>
        <p:nvPicPr>
          <p:cNvPr id="4" name="Picture 3" descr="ex03_continuous_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4: XOR, NAND, NOR with `assign`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as above; multiple gates in one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XOR, NAND, NOR with `assign`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module1/examples/continuous_assign_gates &amp;&amp; make clean &amp;&amp; make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run</a:t>
            </a:r>
          </a:p>
        </p:txBody>
      </p:sp>
      <p:pic>
        <p:nvPicPr>
          <p:cNvPr id="4" name="Picture 3" descr="ex04_continuous_assign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5: Half adder and full adder with `assign` (sum and carry)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Multi-output combinational logic; wire for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Half adder and full adder with `assign` (sum and carry)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module1/examples/adder &amp;&amp; make clean &amp;&amp; make run</a:t>
            </a:r>
          </a:p>
        </p:txBody>
      </p:sp>
      <p:pic>
        <p:nvPicPr>
          <p:cNvPr id="4" name="Picture 3" descr="ex05_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6: `always @(inputs)` and `always @(posedge clk)` with explic…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for testbench; 1995-style task/function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`always @*`; blocking vs nonblocking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`always @(inputs)` and `always @(posedge clk)` with explicit se…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module1/examples/procedural &amp;&amp; make clean &amp;&amp; make run</a:t>
            </a:r>
          </a:p>
        </p:txBody>
      </p:sp>
      <p:pic>
        <p:nvPicPr>
          <p:cNvPr id="4" name="Picture 3" descr="ex06_proced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7: D flip-flop with async reset: `always @(posedge clk or neg…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Edge-sensitive always; nonblocking for sequential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 flip-flop with async reset: `always @(posedge clk or negedge…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module1/examples/sequential_dff &amp;&amp; make clean &amp;&amp; make run</a:t>
            </a:r>
          </a:p>
        </p:txBody>
      </p:sp>
      <p:pic>
        <p:nvPicPr>
          <p:cNvPr id="4" name="Picture 3" descr="ex07_sequential_d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8: `#n`, `@(posedge clk)`, `wait(condition)`; clock generatio…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Delay-based and event-based timing in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`#n`, `@(posedge clk)`, `wait(condition)`; clock generation wit…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module1/examples/delays_timing &amp;&amp; make clean &amp;&amp; make run</a:t>
            </a:r>
          </a:p>
        </p:txBody>
      </p:sp>
      <p:pic>
        <p:nvPicPr>
          <p:cNvPr id="4" name="Picture 3" descr="ex08_delays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9: Minimal testbench with `initial`, `#`, `$display`, `$finis…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generation, termination with `$finish`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Minimal testbench with `initial`, `#`, `$display`, `$finish`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module1/examples/testbenches &amp;&amp; make clean &amp;&amp; make run</a:t>
            </a:r>
          </a:p>
        </p:txBody>
      </p:sp>
      <p:pic>
        <p:nvPicPr>
          <p:cNvPr id="4" name="Picture 3" descr="ex09_testbe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Incomplete Sensitivity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`always @(sel) y = sel ? b : a;` (missing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`a` and `b`)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In 1364-1995 you must list every input that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block reads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`always @(a or b or sel) y = sel ? b : a;`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Incomplete lists cause simulation/synthesis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mismatches and inferred latches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Port Type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Declaring as `wire` an output that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assigned in 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Outputs driven in procedural blocks must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`reg`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`output y; reg y;` when `y` is assigned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`wire` cannot be the target of procedural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Simulation Never 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Testbench without `$finish`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Always call `$finish` after stimulus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`#1000; $finish;`)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Simulator runs until explicit termination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Using 2001/SystemVerilog Constructs in 1995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Writing `always @*` or ANSI ports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assuming 1995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`always @*` and ANSI ports are 1364-2001;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`logic`/`always_comb` are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For strict 1995, use explicit sensitivity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non-ANSI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Keeps code portable to 1995-only tools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clarifies version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Confusing reg with Registers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Thinking `reg` creates a flip-flop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`reg` is a variable type; flip-flops come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`always @(posedge clk)` with `&lt;=`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`reg` for any procedural output;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clocked `always` for sequential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Clarifies design intent and avoids synthesis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Write modules in IEEE 1364-1995 style (non-ANSI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ports, explicit sensitivity)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`wire` and `reg` correctly for nets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procedural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Describe combinational logic with `assign`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 @(inputs)`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Describe sequential logic with `always @(posedge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clk)` and nonblocking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`initial`, `#`, `@`, and `wait`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1364-1995 tasks and functions (non-ANSI 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State what 1364-1995 does not include (ANSI, `@*`,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generate, SystemVerilog)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and Ports (1995)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wire vs reg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Incomplete Sensitivity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Type Mismatch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Never Ends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2001/SystemVerilog Constructs in 1995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Confusing reg with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first standardized Verilog language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1364-1995) and its core syntax for RTL design…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module1/EXAMPLES.md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