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docs/MODULE1.md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docs/MODULE1.md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module1/examples/modules_ports/README.md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module1/examples/modules_ports/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module1/examples/nets_variables/README.md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module1/examples/nets_variables/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module1/examples/continuous_assign/README.md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module1/examples/continuous_assign/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module1/examples/continuous_assign_gates/README.md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module1/examples/continuous_assign_gates/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module1/examples/adder/README.md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module1/examples/adder/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module1/examples/procedural/README.md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module1/examples/procedural/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module1/examples/sequential_dff/README.md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module1/examples/sequential_dff/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module1/examples/delays_timing/README.md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module1/examples/delays_timing/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module1/examples/testbenches/README.md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module1/examples/testbenches/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1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IEEE 1364-1995 (Verilog-95)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first standardized Verilog language (IEEE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1364-1995) and its core syntax for RTL design…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the first standardized Verilog language (IEEE 1364-1995) and its core syntax for RTL design and simulation.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establishes the foundation for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Verilog/SystemVerilog version-centric course.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You'll…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Skim this document — Goal, Overview, and Topics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Covered set the IEEE scope for Module 1.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Study design architecture — See how DUTs, examples,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testbenches fit together under `module1/`.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 through labs in order — Open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`module1/EXAMPLES.md` and run each `make clean &amp;&amp;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make run` from…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the full module script — `./scripts/module1.sh`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the repo root to simulate all examples and…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the exercises — Try each exercise in this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 before reading solutions or peeking at…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Common Pitfalls — Can you explain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mistake and the fix?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 — Use `module1/CHECKLIST.md`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starting the next module.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1364-1995 Context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Modules and hierarchy: Module declaration,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list,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Nets: `wire` (and `wand`, `wor`, `tri`; rarely used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RTL)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Variables: `reg` for procedural assignment outputs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Continuous assignment: `assign` for combinational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Procedural blocks: `always`, `initial` with explicit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sensitivity lists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Delays and timing: `#`, `@`, `wait`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1364-1995 Context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and functions: Non-ANSI style (declarations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separate from port list)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tasks: `$display`, `$monitor`, `$finish`,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`$stop`, `$time`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ANSI-style port declarations (added in 1364-2001)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**`always @*`** (added in 1364-2001)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generate (added in 1364-2001)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signed keyword, no multi-dimensional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(1364-2001)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1364-1995 Context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SystemVerilog: no `logic`, `always_comb`,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`always_ff`, interfaces, packages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Modules, Ports, and Hierarchy (1364-1995)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list: Only port names: `(a, b, y)`.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direction: Declared inside the module: `input`,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`output`.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type: Declared inside the module: `wire`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`reg` (default for `input` is `wire`; for `output`…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Named port connection: `.port_name(signal_name)`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recommended for readability.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Positional: Order must match port list.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Nets and Variables: wire and reg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Represents a physical connection between components.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Driven by continuous assignment (`assign`) or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 output.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Cannot be assigned inside `always` or `initial` (use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`reg` for that).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Holds a value; can be assigned in `always`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`initial`.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Does not imply a flip-flop; flip-flops come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 @(posedge clk)` (or similar).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Used for outputs that are driven procedurally.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Nets and Variables: wire and reg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Both `wire` and `reg` are 4-state: `0`, `1`, `X`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(unknown), `Z` (high-impedance).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Continuous Assignment (assign)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Right-hand side: Any expression of `wire`/`reg`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operators.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Left-hand side: Must be a `wire` (or similar net).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Procedural Blocks: always and initial (1364-1995)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Repeated execution; sensitivity list defines when 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1364-1995: Sensitivity list is mandatory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explicit — no `@*`.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blocking `=` for combinational, nonblocking `&lt;=`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sequential (flip-flops).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 (D flip-flop):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`module1/examples/sequential_dff/dff.v`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Runs once at time zero. Used for testbenches: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stimulus, `$display`, `$finish`.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Delays and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`#n`: Delay by `n` time units (e.g. `#10`).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`@(event)`: Wait for event (e.g. `@(posedge clk)`).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`wait(condition)`: Wait until condition is true.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Tasks and Functions (1995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Function: Returns a single value; no delays (zero-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Task: Can have delays and multiple outputs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(output/inout args).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Simple Testbench (1364-1995)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`$display`: Print once.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`$monitor`: Print whenever a listed signal changes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(optional).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`$finish`: End simulation.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1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1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Modules and 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1995-style module declaration and port list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Named and positional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Non-ANSI ports, separate direction/type declarations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Modules and 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module1/examples/modules_ports &amp;&amp; make clean &amp;&amp; make run</a:t>
            </a:r>
          </a:p>
        </p:txBody>
      </p:sp>
      <p:pic>
        <p:nvPicPr>
          <p:cNvPr id="4" name="Picture 3" descr="ex01_modules_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Nets and Variables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wire vs reg, vectors, 4-state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wire vs reg, single driver per 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Nets and Variables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module1/examples/nets_variables &amp;&amp; make clean &amp;&amp; make run</a:t>
            </a:r>
          </a:p>
        </p:txBody>
      </p:sp>
      <p:pic>
        <p:nvPicPr>
          <p:cNvPr id="4" name="Picture 3" descr="ex02_net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Continuous Assignment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assign for combinational logic (2:1 mux)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Left-hand side must be net; expression on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Continuous Assignment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module1/examples/continuous_assign &amp;&amp; make clean &amp;&amp; make run</a:t>
            </a:r>
          </a:p>
        </p:txBody>
      </p:sp>
      <p:pic>
        <p:nvPicPr>
          <p:cNvPr id="4" name="Picture 3" descr="ex03_continuous_as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Continuous Assignment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XOR, NAND, NOR with assign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as above; multiple gates in one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Continuous Assignment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module1/examples/continuous_assign_gates &amp;&amp; make clean &amp;&amp; make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run</a:t>
            </a:r>
          </a:p>
        </p:txBody>
      </p:sp>
      <p:pic>
        <p:nvPicPr>
          <p:cNvPr id="4" name="Picture 3" descr="ex04_continuous_assign_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Half adder and full adder with assign (sum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carry)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Multi-output combinational logic; wire for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module1/examples/adder &amp;&amp; make clean &amp;&amp; make run</a:t>
            </a:r>
          </a:p>
        </p:txBody>
      </p:sp>
      <p:pic>
        <p:nvPicPr>
          <p:cNvPr id="4" name="Picture 3" descr="ex05_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Procedural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@(inputs) and always @(posedge clk)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explicit sensitivity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 for testbench; 1995-style task/function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`always @*`; blocking vs nonblocking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Procedural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module1/examples/procedural &amp;&amp; make clean &amp;&amp; make run</a:t>
            </a:r>
          </a:p>
        </p:txBody>
      </p:sp>
      <p:pic>
        <p:nvPicPr>
          <p:cNvPr id="4" name="Picture 3" descr="ex06_proced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7: Sequential D Flip-Flop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 flip-flop with async reset: always @(posedge clk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negedge rst_n) and &lt;=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Edge-sensitive always; nonblocking for sequential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Sequential D Flip-Flop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module1/examples/sequential_dff &amp;&amp; make clean &amp;&amp; make run</a:t>
            </a:r>
          </a:p>
        </p:txBody>
      </p:sp>
      <p:pic>
        <p:nvPicPr>
          <p:cNvPr id="4" name="Picture 3" descr="ex07_sequential_d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8: Delays and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#n, @(posedge clk), wait(condition);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generation with forever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Delay-based and event-based timing in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Delays and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module1/examples/delays_timing &amp;&amp; make clean &amp;&amp; make run</a:t>
            </a:r>
          </a:p>
        </p:txBody>
      </p:sp>
      <p:pic>
        <p:nvPicPr>
          <p:cNvPr id="4" name="Picture 3" descr="ex08_delays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9: Testbenches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Minimal testbench with initial, #, $display, $finish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generation, termination with `$finish`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Testbenches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module1/examples/testbenches &amp;&amp; make clean &amp;&amp; make run</a:t>
            </a:r>
          </a:p>
        </p:txBody>
      </p:sp>
      <p:pic>
        <p:nvPicPr>
          <p:cNvPr id="4" name="Picture 3" descr="ex09_testben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Incomplete Sensitivity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`always @(sel) y = sel ? b : a;` (missing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`a` and `b`)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In 1364-1995 you must list every input that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 block reads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`always @(a or b or sel) y = sel ? b : a;`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Incomplete lists cause simulation/synthesis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mismatches and inferred latches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Port Type Mismatch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Declaring as `wire` an output that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assigned in `always`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Outputs driven in procedural blocks must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`reg`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`output y; reg y;` when `y` is assigned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`wire` cannot be the target of procedural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Simulation Never 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Testbench without `$finish`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Always call `$finish` after stimulus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`#1000; $finish;`)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Simulator runs until explicit termination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Using 2001/SystemVerilog Constructs in 1995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Writing `always @*` or ANSI ports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assuming 1995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`always @*` and ANSI ports are 1364-2001;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`logic`/`always_comb` are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For strict 1995, use explicit sensitivity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non-ANSI 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Keeps code portable to 1995-only tools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clarifies version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Confusing reg with Registers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Thinking `reg` creates a flip-flop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`reg` is a variable type; flip-flops come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`always @(posedge clk)` with `&lt;=`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`reg` for any procedural output;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clocked `always` for sequential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Clarifies design intent and avoids synthesis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surprises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Write modules in IEEE 1364-1995 style (non-ANSI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ports, explicit sensitivity)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`wire` and `reg` correctly for nets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procedural outputs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Describe combinational logic with `assign`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 @(inputs)`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Describe sequential logic with `always @(posedge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clk)` and nonblocking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`initial`, `#`, `@`, and `wait`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1364-1995 tasks and functions (non-ANSI form)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State what 1364-1995 does not include (ANSI, `@*`,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generate, SystemVerilog)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and Ports (1995)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wire vs reg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Incomplete Sensitivity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Type Mismatch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Never Ends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2001/SystemVerilog Constructs in 1995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Confusing reg with Registers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first standardized Verilog language (IEEE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1364-1995) and its core syntax for RTL design…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module1/CHECKLIST.md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module1/EXAMPLES.md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