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docs/MODULE5.md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docs/MODULE5.md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while running module5/EXAMPLES.md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 iverilog on PATH (apt install iverilog).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module5/examples/operators/README.md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module5/examples/operators/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module5/examples/wildcard_only/README.md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module5/examples/wildcard_only/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module5/examples/range_check/README.md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module5/examples/range_check/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module5/examples/arrays/README.md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module5/examples/arrays/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module5/examples/array_param/README.md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module5/examples/array_param/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module5/examples/checkers/README.md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module5/examples/checkers/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module5/examples/assert_valid_encoding/README.md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module5/examples/assert_valid_encoding/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module5/examples/assert_invariant/README.md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module5/examples/assert_invariant/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module5/examples/summary/README.md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module5/examples/summary/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Common Pitfalls.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9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41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43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4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4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49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51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53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55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5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IEEE 1800-2009 and 1800-2012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SystemVerilog revisions IEEE 1800-2009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1800-2012: interface and type refinements, op…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the SystemVerilog revisions IEEE 1800-2009 and 1800-2012: interface and type refinements, operator and array enhancements, and...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IEEE Std 1800-2009 and IEEE Std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1800-2012, the first two major revisions of Syst…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Skim this document — Goal, Overview, and Topics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Covered set the IEEE scope for Module 5.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Study design architecture — See how DUTs, examples,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testbenches fit together under `module5/`.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 through labs in order — Open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`module5/EXAMPLES.md` and run each `make clean &amp;&amp;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make run` from…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the full module script — `./scripts/module5.sh`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the repo root to simulate all examples and…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the exercises — Try each exercise in this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 before reading solutions or peeking at…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Common Pitfalls — Can you explain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mistake and the fix?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 — Use `module5/CHECKLIST.md`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starting the next module.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Repository layout (module5/)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IEEE 1800-2009 and 1800-2012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refinements on the 2005 base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Assertions, checkers, and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refinements in examples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module5/dut/ — designs used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 and checker labs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scripts/module5.sh — run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assertion-focused examples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Assertion and checker placement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immediate assertions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procedural code — zero-time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concurrent assertions (SVA)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temporal properties on clocks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 encapsulation —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 sit alongside RTL;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failures stop simulation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message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2009/2012 vs 2005 delta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and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clarifications — same patterns,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clearer LRM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1800-2012 checker keyword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structured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 RTL from Module 4 remains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valid; add assertions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incrementally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5: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/ testbench diagram (reference)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5: stimulus, observation, and checking.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Embedded assertion example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Immediate assertion for valid encoding - IEEE 1800-2009/2012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assert (valid_op) else $error; use for opcode or state encoding.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alu_op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[2:0] op,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logic [7:0] 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/* Valid opcodes: 0=add, 1=sub, 2=and, 3=or; others invalid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logic valid_op;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always_comb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valid_op = (op == 3'd0 || op == 3'd1 || op == 3'd2 || op ==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3'd3);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assert (valid_op) else $error("alu_op: invalid opcode %d", op);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end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compiles RTL +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 into a C++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sim_main.cpp: generates clk/rst_n, calls eval()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until $finish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Directed test (initial block or C++): drive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stimulus, wait for DUT flags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Self-check: compare outputs; print PASS/FAIL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terminal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 path: module5/examples/&lt;example&gt;/ — run make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from that directory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Key files to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Open these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module5/examples/assert_valid_encoding/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module5/examples/checkers/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module5/examples/assert_invariant/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scripts/module5.sh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Running assertion labs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 run per example; failing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 prints SVA message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./scripts/module5.sh runs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designs with embedded checkers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Closure mindset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Pass = no assertion failures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expected $display output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assert examples to learn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what to monitor before UVM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Immediate assertion in procedural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Immediate assertion - IEEE 1800-2009/2012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assert (condition) else $error("..."); checked when executed.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onehot_check (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input  logic [3:0] sig,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output logic       valid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/* Immediate assertion: at most one bit set (one-hot or zero)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always_comb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valid = ($countones(sig) &lt;= 1);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assert (valid) else $error("onehot_check: sig not one-hot or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zero: %b", sig);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end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endmodule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# 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Protocol &amp; design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What 1800-2009 Adds or Clarifies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Interfaces: Modport expressions, virtual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type (for testbenches), interface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Types and operators: Clarifications; additional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operators and built-in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Assertions: SVA enhancements; checker concept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(preview)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DPI: Refinements for C/C++ interop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What 1800-2009 Adds or Clarifies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Coverage: Coverage option and syntax clarifications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Clarifications: Scheduling, generate, and other 2005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semantics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What 1800-2012 Adds or Clarifies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Checkers: Checker construct for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assertion/coverage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Arrays: Array manipulation methods; array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ordering clarifications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Strings: String methods and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units: Refined rules for $unit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compilation-unit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What 1800-2012 Adds or Clarifies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 and coverage: Further SVA and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features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Clarifications: Numerous editorial and semantic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clarifications across the LRM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Relation to 1800-2005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1800-2005 RTL remains valid in 1800-2009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1800-2012.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New features are additive; you adopt them when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tool and project support the revision.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Modport Expressions (2009)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the same interface is used with different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 subsets or derived signals; check tool 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Benefit: Fewer duplicate interface definitions;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clearer connection contract.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Virtual Interface (2009)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Design: Rarely used in RTL; RTL typically connects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a concrete interface instance.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Verification: Common in UVM and other 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testbenches; allows one driver class to work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any ins…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Integer Types and Sizes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byte, shortint, int, longint: 8, 16, 32, 64 bits;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signed by default.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byte unsigned, int unsigned: Unsigned variants.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 in 2012: Representation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conversion rules; use in RTL for constants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Operators Added or Clarified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inside: Already in 2005; 2009/2012 clarify 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membership and use with ranges.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Wildcard equality `==?`: X/Z in the right-hand side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 as “don’t care” in comparisons.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membership and case (inside): Used in case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statements and constraints; semantics clarified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Array Methods (2012)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methods: `.size()`, `.delete()`, `.sort()`,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`.reverse()`, etc. (exact set is revision-depende…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Queues: `.push_back()`, `.pop_front()`, `.insert()`,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RTL: Limited (arrays in RTL are often fixed);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methods are common in testbenches and checkers.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Array Assignment and Ordering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Packed vs unpacked: Assignment rules and ordering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(row-major, etc.) are clarified.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copy: Whole-array assignment and copying;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compatibility of dimensions.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RTL: Multi-dimensional arrays (e.g. memories)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parameterized dimensions; follow tool-supp…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String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Strings: `string` type; methods such as `.len()`,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`.substr()`, `.atoi()`, etc. (as defined in 2012).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RTL: Rare (strings are mainly for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file I/O in testbenches).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testbenches: Logging, report generation, file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names.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Assertions in Design (Brief)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immediate assertions: `assert (condition) else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$error("...");` — checked when executed (like 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if-…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concurrent assertions: `assert property (@(posedge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clk) (a |-&gt; b));` — checked over time; typically…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RTL: Immediate assertions for invariants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(e.g. one-hot, valid encodings); concurrent asserti…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Checker (2012)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checker: A reusable unit that can contain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assertions, assumptions, coverage, and helper logic;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can…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Encapsulate a set of properties (e.g.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rules) and reuse across modules or hierarchies.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Design: Checkers can be bound to RTL modules; they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 not change RTL functionality, only add checki…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Synthesis: Checkers are typically not synthesized;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they are for simulation and formal tools.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Compilation Unit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unit: The scope of one or more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files compiled together (tool-defined).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$unit: The compilation-unit scope; declarations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$unit are visible across the unit without import.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practice: Prefer packages and explicit import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 $unit to avoid hidden dependencies and name…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Package and Import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Import: `import pkg::*` or `import pkg::item`; 2012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clarifies visibility and search order.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Keep shared types and functions in packages;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import where needed; avoid relying on $unit for n…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flow (reference)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Stimulus, DUT response, and check points for this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1800-2009 and 1800-2012 Context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Interfaces: Modport expressions, virtual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type (for testbenches), interface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Types and operators: Clarifications; additional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operators and built-in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Assertions: SVA enhancements; checker concept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(preview)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DPI: Refinements for C/C++ interop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Coverage: Coverage option and syntax clarifications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Clarifications: Scheduling, generate, and other 2005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semantics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1800-2009 and 1800-2012 Context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Checkers: Checker construct for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assertion/coverage logic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Arrays: Array manipulation methods; array assignment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ordering clarifications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Strings: String methods and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units: Refined rules for $unit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compilation-unit scope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Assertions and coverage: Further SVA and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features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Clarifications: Numerous editorial and semantic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clarifications across the LRM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IEEE 1800-2009 and 1800-2012 Context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1800-2005 RTL remains valid in 1800-2009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1800-2012.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New features are additive; you adopt them when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tool and project support the revision.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Interface Refinements (2009)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When the same interface is used with different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signal subsets or derived signals; check tool 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Benefit: Fewer duplicate interface definitions;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clearer connection contract.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Design: Rarely used in RTL; RTL typically connects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 a concrete interface instance.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Verification: Common in UVM and other OOP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testbenches; allows one driver class to work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any ins…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Type and Operator Enhancements (2009/2012)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byte, shortint, int, longint: 8, 16, 32, 64 bits;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signed by default.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byte unsigned, int unsigned: Unsigned variants.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Clarifications in 2012: Representation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conversion rules; use in RTL for constants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parameter…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inside: Already in 2005; 2009/2012 clarify 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membership and use with ranges.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Wildcard equality `==?`: X/Z in the right-hand side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 as “don’t care” in comparisons.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membership and case (inside): Used in case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statements and constraints; semantics clarified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Type and Operator Enhancements (2009/2012)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methods: `.size()`, `.delete()`, `.sort()`,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`.reverse()`, etc. (exact set is revision-depende…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Queues: `.push_back()`, `.pop_front()`, `.insert()`,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RTL: Limited (arrays in RTL are often fixed);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methods are common in testbenches and checkers.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Array and String Refinements (2012)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Packed vs unpacked: Assignment rules and ordering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(row-major, etc.) are clarified.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copy: Whole-array assignment and copying;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compatibility of dimensions.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RTL: Multi-dimensional arrays (e.g. memories)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parameterized dimensions; follow tool-supp…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Strings: `string` type; methods such as `.len()`,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`.substr()`, `.atoi()`, etc. (as defined in 2012).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RTL: Rare (strings are mainly for messages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file I/O in testbenches).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testbenches: Logging, report generation, file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names.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Assertions and Checkers in Context (2009/2012)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immediate assertions: `assert (condition) else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$error("...");` — checked when executed (like an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if-…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concurrent assertions: `assert property (@(posedge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clk) (a |-&gt; b));` — checked over time; typically…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in RTL: Immediate assertions for invariants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(e.g. one-hot, valid encodings); concurrent asserti…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checker: A reusable unit that can contain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assertions, assumptions, coverage, and helper logic;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can…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Encapsulate a set of properties (e.g. protocol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rules) and reuse across modules or hierarchies.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Design: Checkers can be bound to RTL modules; they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 not change RTL functionality, only add checki…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Assertions and Checkers in Context (2009/2012)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Synthesis: Checkers are typically not synthesized;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they are for simulation and formal tools.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Compilation Units and Scope (2012)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Compilation unit: The scope of one or more source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files compiled together (tool-defined).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$unit: The compilation-unit scope; declarations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$unit are visible across the unit without import.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Best practice: Prefer packages and explicit import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over $unit to avoid hidden dependencies and name…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Import: `import pkg::*` or `import pkg::item`; 2012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clarifies visibility and search order.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Use: Keep shared types and functions in packages;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import where needed; avoid relying on $unit for n…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7. Summary: 1800-2005 vs 2009 vs 2012 (Design-Relevant)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docs/MODULE5.md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5 toolchain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command -v iverilog &gt;/dev/null &amp;&amp; echo "Toolchain ready: $(iverilog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-V 2&gt;&amp;1 | head -1)"</a:t>
            </a:r>
          </a:p>
        </p:txBody>
      </p:sp>
      <p:pic>
        <p:nvPicPr>
          <p:cNvPr id="4" name="Picture 3" descr="module5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`inside` with ranges and sets; `==?` wildcard (fallback fo…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Set membership; don’t-care in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`inside` with ranges and sets; `==?` wildcard (fallback for too…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module5/examples/operators &amp;&amp; make clean &amp;&amp; make run</a:t>
            </a:r>
          </a:p>
        </p:txBody>
      </p:sp>
      <p:pic>
        <p:nvPicPr>
          <p:cNvPr id="4" name="Picture 3" descr="ex01_opera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Dedicated `==?` wildcard equality (X/Z as don't care)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Wildcard match in RTL/testbench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Dedicated `==?` wildcard equality (X/Z as don't care)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module5/examples/wildcard_only &amp;&amp; make clean &amp;&amp; make run</a:t>
            </a:r>
          </a:p>
        </p:txBody>
      </p:sp>
      <p:pic>
        <p:nvPicPr>
          <p:cNvPr id="4" name="Picture 3" descr="ex02_wildcard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Range membership (e.g. value inside `[0:127]`); fallback t…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`inside` with ranges; 2009/2012 operator use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Range membership (e.g. value inside `[0:127]`); fallback to exp…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module5/examples/range_check &amp;&amp; make clean &amp;&amp; make run</a:t>
            </a:r>
          </a:p>
        </p:txBody>
      </p:sp>
      <p:pic>
        <p:nvPicPr>
          <p:cNvPr id="4" name="Picture 3" descr="ex03_range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Fixed memory with parameterized DEPTH/WIDTH; 2012 array se…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indexing; synthesis-safe subset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Fixed memory with parameterized DEPTH/WIDTH; 2012 array semanti…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module5/examples/arrays &amp;&amp; make clean &amp;&amp; make run</a:t>
            </a:r>
          </a:p>
        </p:txBody>
      </p:sp>
      <p:pic>
        <p:nvPicPr>
          <p:cNvPr id="4" name="Picture 3" descr="ex04_array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Parameterized memory using `$clog2(DEPTH)` for address wid…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Parameterized arrays; 2012 clarifications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Parameterized memory using `$clog2(DEPTH)` for address 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module5/examples/array_param &amp;&amp; make clean &amp;&amp; make run</a:t>
            </a:r>
          </a:p>
        </p:txBody>
      </p:sp>
      <p:pic>
        <p:nvPicPr>
          <p:cNvPr id="4" name="Picture 3" descr="ex05_array_pa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6: Immediate assertion (e.g. one-hot) using `$countones` or 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assert in design; immediate assertion in RTL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Immediate assertion (e.g. one-hot) using `$countones` or similar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module5/examples/checkers &amp;&amp; make clean &amp;&amp; make run</a:t>
            </a:r>
          </a:p>
        </p:txBody>
      </p:sp>
      <p:pic>
        <p:nvPicPr>
          <p:cNvPr id="4" name="Picture 3" descr="ex06_check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7: Immediate assertion for valid opcode/encoding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Invariant checking; assert for valid encodings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Immediate assertion for valid opcode/encoding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module5/examples/assert_valid_encoding &amp;&amp; make clean &amp;&amp; make run</a:t>
            </a:r>
          </a:p>
        </p:txBody>
      </p:sp>
      <p:pic>
        <p:nvPicPr>
          <p:cNvPr id="4" name="Picture 3" descr="ex07_assert_valid_encod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8: Immediate assertion for one-hot grant (e.g. arbiter)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One-hot invariant; assert in RTL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Immediate assertion for one-hot grant (e.g. arbiter)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module5/examples/assert_invariant &amp;&amp; make clean &amp;&amp; make run</a:t>
            </a:r>
          </a:p>
        </p:txBody>
      </p:sp>
      <p:pic>
        <p:nvPicPr>
          <p:cNvPr id="4" name="Picture 3" descr="ex08_assert_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9: Comparison of 2005 vs 2009/2012 features in a small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Backward compatibility; when to adopt new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Comparison of 2005 vs 2009/2012 features in a small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module5/examples/summary &amp;&amp; make clean &amp;&amp; make run</a:t>
            </a:r>
          </a:p>
        </p:txBody>
      </p:sp>
      <p:pic>
        <p:nvPicPr>
          <p:cNvPr id="4" name="Picture 3" descr="ex09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Common pitfalls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Assuming 2009/2012 Features in an 2005-Only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Using virtual interface, checker, or 2012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array methods when the project or tool is 1800-2…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Compile or elaboration errors; or undefined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behavior.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Confirm project standard and tool revision;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 only features of that revision.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Backward compatibility is 2005→2009→2012; tools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may not implement all newer features.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Virtual Interface in RTL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Using a virtual interface in synthesizable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RTL.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Virtual interfaces are for dynamic binding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(testbench); not for hardware.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concrete interface instances in RTL;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use virtual interface only in testbench classes.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Synthesis does not support virtual interface;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it is a simulation construct.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Checker 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Expecting a checker to be synthesized like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 module.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Checkers are for assertion/coverage;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typically not synthesized.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Use checkers for verification; keep RTL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Checker semantics are for checking, not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netlist generation.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Array Methods in RTL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Using dynamic array or queue methods (e.g.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.push_back) in synthesizable RTL.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Many such methods are not synthesizable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are tool-specific.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In RTL use fixed-size or parameterized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arrays and indexing; use methods in testbenches or…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Synthesis subset of SystemVerilog is smaller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than the full language.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$unit vs Package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Mistake: Putting shared types or functions in $unit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relying on compilation order.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Reality: $unit visibility and order are tool-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dependent; can cause subtle bugs.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Correct: Put shared items in packages; use explicit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import.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Why: Packages give a clear namespace and import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order; 2012 clarifies compilation unit but packages…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Describe what 1800-2009 and 1800-2012 add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clarify over 1800-2005 (interfaces, types, arrays,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interface refinements (modport expressions,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virtual interface) when the project and tool supp…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`inside` and `==?` appropriately in RTL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Apply array and string refinements (2012)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testbenches or checkers; know the synthesizable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subs…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immediate assertions in RTL for simple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invariants; understand checker (2012) as reusable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prop…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Summarize 1800-2005 vs 2009 vs 2012 and choose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standard based on tool and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inside and ==?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Interface (2009)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Immediate Assertion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 (2012)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Version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Assuming 2009/2012 Features in an 2005-Only Flow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Interface in 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Checker Synthesis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Array Methods in 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$unit vs Package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the SystemVerilog revisions IEEE 1800-2009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1800-2012: interface and type refinements, op…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module5/CHECKLIST.md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module5/EXAMPLES.md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