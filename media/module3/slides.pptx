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Requires iverilog on PATH (apt install iverilog).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module3/examples/parameters/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module3/examples/no_defparam/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module3/examples/synthesizable/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module3/examples/one_driver/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module3/examples/procedural/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module3/examples/pipeline/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module3/examples/case_styles/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module3/examples/avoid_latch/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module3/examples/function_synth/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module3/examples/summary/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3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IEEE 1364-2005 (Verilog-2005)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the final Verilog-only standard (IEEE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1364-2005), its clarifications over 2001, and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synt…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the final Verilog-only standard (IEEE 1364-2005), its clarifications over 2001, and the synthesizable subset as a stable baseline be…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covers IEEE Std 1364-2005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(Verilog-2005), the last standard that defines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Verilog alone…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IEEE 1364-2005 Context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Final Verilog-only standard: No SystemVerilog (no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`logic`, interfaces, packages, classes).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Clarifications: Refined wording and examples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2001 features (e.g. generate, signed, scheduling).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Minor additions: Additional system tasks and small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syntax clarifications.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Stable baseline: Many synthesis and style guides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treat 1364-2005 as the Verilog baseline.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Clarifications: Scheduling, blocking vs nonblocking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semantics, and generate behavior.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 tasks: Additional or clarified tasks (e.g.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`$realtime`, file I/O behavior).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IEEE 1364-2005 Context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Deprecations: e.g. defparam is deprecated (use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instantiation parameter override instead).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Attributes: Clarified syntax and usage for tool-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specific attributes.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major new language features: The big step to new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features is 1800 (Module 4).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SystemVerilog: no `logic`,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`always_comb`/`always_ff`, interfaces, packages,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classes, assertions…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interfaces or type parameters (those are 1800).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defparam Deprecation (2005)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Problem: Overrides a parameter deep in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outside; hard to trace and tool-dependent.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Preferred: Override at instantiation: `sub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#(.WIDTH(16)) u_sub (...);`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Recommendation: Do not use defparam in new RTL; 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named parameter override in the instantiation.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Synthesizable Subset (1364-2005)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Modules: ANSI ports, parameter, localparam.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Nets and variables: wire, reg (with correct usage).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assign: Combinational logic; single driver per net.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always: Combinational with `always @*`; sequential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 `always @(posedge clk)` (or negedge) and no…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generate: generate for, generate if/else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structure.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Operators: Arithmetic, logical, bitwise, relational,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shift, concatenation, conditional (`? :`).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Synthesizable Subset (1364-2005)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case / casez / casex: With care (full case, parallel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case, or tool directives).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Tasks and functions: Without delays; used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combinational or single-cycle helpers.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Signed: signed types and $signed/$unsigned as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supported by the tool.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Delays: `#n` in RTL (used for testbenches only).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initial: Except for initialization of reg/mem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FPGAs (tool-dependent).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controls: `@(posedge clk)` is fine; complex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event lists may not map.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Synthesizable Subset (1364-2005)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Fork/join: Usually testbench-only.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 tasks: e.g. `$display`, `$finish`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testbench/simulation only.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Pure latch inference: Unintended latches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incomplete case/if; use full case or default.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Combinational: Use `always @*` and blocking `=`;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assign all outputs in all branches (or default) to…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Sequential: Use `always @(posedge clk)` (and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optionally `negedge rst_n`) and nonblocking `&lt;=`; do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One driver per net: No multiple assign to the same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wire; no multiple always driving the same reg in…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Synthesizable Subset (1364-2005)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Avoid latches: In combinational always, cover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cases or use a default assignment.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Blocking vs Nonblocking (Clarified in 2005)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Combinational always (`always @*`): Use blocking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`=`. Order of statements can matter (same simulati…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always (`always @(posedge clk)`): 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nonblocking `&lt;=`. Order does not matter within the…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 not mix blocking and nonblocking for the same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variable in the same always block.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Full Case and Parallel Case (Synthesis Hints)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Intent: “Every possible case value is covered; no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latch.”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Syntax: Often an attribute, e.g. `(* full_case *)`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 tool-specific comment.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Use: When the designer guarantees all cases are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covered (e.g. one-hot state encoding).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Intent: “At most one case arm matches; can be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implemented as parallel mux.”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Syntax: Often an attribute, e.g. `(* parallel_case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*)` or tool-specific.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Use: When at most one branch is true (e.g. one-hot);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misuse can hide bugs.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Summary: 1364 Evolution (1995 → 2001 → 2005)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docs/MODULE3.md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3 toolchain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command -v iverilog &gt;/dev/null &amp;&amp; echo "Toolchain ready: $(iverilog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-V 2&gt;&amp;1 | head -1)"</a:t>
            </a:r>
          </a:p>
        </p:txBody>
      </p:sp>
      <p:pic>
        <p:nvPicPr>
          <p:cNvPr id="4" name="Picture 3" descr="module3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Parameter 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module3/examples/parameters &amp;&amp; make clean &amp;&amp; make run</a:t>
            </a:r>
          </a:p>
        </p:txBody>
      </p:sp>
      <p:pic>
        <p:nvPicPr>
          <p:cNvPr id="4" name="Picture 3" descr="ex01_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No defparam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module3/examples/no_defparam &amp;&amp; make clean &amp;&amp; make run</a:t>
            </a:r>
          </a:p>
        </p:txBody>
      </p:sp>
      <p:pic>
        <p:nvPicPr>
          <p:cNvPr id="4" name="Picture 3" descr="ex02_no_defpa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Synthesizable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module3/examples/synthesizable &amp;&amp; make clean &amp;&amp; make run</a:t>
            </a:r>
          </a:p>
        </p:txBody>
      </p:sp>
      <p:pic>
        <p:nvPicPr>
          <p:cNvPr id="4" name="Picture 3" descr="ex03_synthesiz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One 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module3/examples/one_driver &amp;&amp; make clean &amp;&amp; make run</a:t>
            </a:r>
          </a:p>
        </p:txBody>
      </p:sp>
      <p:pic>
        <p:nvPicPr>
          <p:cNvPr id="4" name="Picture 3" descr="ex04_one_dr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Blocking vs Nonblocking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module3/examples/procedural &amp;&amp; make clean &amp;&amp; make run</a:t>
            </a:r>
          </a:p>
        </p:txBody>
      </p:sp>
      <p:pic>
        <p:nvPicPr>
          <p:cNvPr id="4" name="Picture 3" descr="ex05_proced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module3/examples/pipeline &amp;&amp; make clean &amp;&amp; make run</a:t>
            </a:r>
          </a:p>
        </p:txBody>
      </p:sp>
      <p:pic>
        <p:nvPicPr>
          <p:cNvPr id="4" name="Picture 3" descr="ex06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Case Styles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module3/examples/case_styles &amp;&amp; make clean &amp;&amp; make run</a:t>
            </a:r>
          </a:p>
        </p:txBody>
      </p:sp>
      <p:pic>
        <p:nvPicPr>
          <p:cNvPr id="4" name="Picture 3" descr="ex07_case_sty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Avoid Latch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module3/examples/avoid_latch &amp;&amp; make clean &amp;&amp; make run</a:t>
            </a:r>
          </a:p>
        </p:txBody>
      </p:sp>
      <p:pic>
        <p:nvPicPr>
          <p:cNvPr id="4" name="Picture 3" descr="ex08_avoid_l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Synthesizable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module3/examples/function_synth &amp;&amp; make clean &amp;&amp; make run</a:t>
            </a:r>
          </a:p>
        </p:txBody>
      </p:sp>
      <p:pic>
        <p:nvPicPr>
          <p:cNvPr id="4" name="Picture 3" descr="ex09_function_sy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1364-2005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module3/examples/summary &amp;&amp; make clean &amp;&amp; make run</a:t>
            </a:r>
          </a:p>
        </p:txBody>
      </p:sp>
      <p:pic>
        <p:nvPicPr>
          <p:cNvPr id="4" name="Picture 3" descr="ex10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Remove defparam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Synthesizable Checklist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Blocking vs Nonblocking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Case and Latches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1364-2005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defparam in New Code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Mixing Blocking and Nonblocking for Same Variable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Assuming unique/priority case in 1364-2005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Latches from Incomplete case/if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SystemVerilog in “1364-2005”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the final Verilog-only standard (IEEE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1364-2005), its clarifications over 2001, and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synt…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module3/CHECKLIST.md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./scripts/module3.sh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